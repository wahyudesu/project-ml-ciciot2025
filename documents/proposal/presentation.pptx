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8" r:id="rId9"/>
    <p:sldId id="264" r:id="rId10"/>
    <p:sldId id="266" r:id="rId11"/>
    <p:sldId id="263" r:id="rId12"/>
  </p:sldIdLst>
  <p:sldSz cx="18288000" cy="10287000"/>
  <p:notesSz cx="6858000" cy="9144000"/>
  <p:embeddedFontLst>
    <p:embeddedFont>
      <p:font typeface="Inter Bold" panose="02000503000000020004"/>
      <p:bold r:id="rId16"/>
    </p:embeddedFont>
    <p:embeddedFont>
      <p:font typeface="Inter" panose="02000503000000020004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1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124405"/>
            <a:ext cx="10960558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0"/>
              </a:lnSpc>
            </a:pPr>
            <a:r>
              <a:rPr lang="en-US" sz="4200" b="1">
                <a:solidFill>
                  <a:srgbClr val="000000"/>
                </a:solidFill>
                <a:latin typeface="+mj-lt"/>
                <a:ea typeface="Inter Bold" panose="02000503000000020004"/>
                <a:cs typeface="+mj-lt"/>
                <a:sym typeface="Inter Bold" panose="02000503000000020004"/>
              </a:rPr>
              <a:t>Cross-Dataset Evaluation of IoT/IIoT Intrusion Detection Model Generalization on CIC IIoT 2025</a:t>
            </a:r>
            <a:endParaRPr lang="en-US" sz="4200" b="1">
              <a:solidFill>
                <a:srgbClr val="000000"/>
              </a:solidFill>
              <a:latin typeface="+mj-lt"/>
              <a:ea typeface="Inter Bold" panose="02000503000000020004"/>
              <a:cs typeface="+mj-lt"/>
              <a:sym typeface="Inter Bold" panose="020005030000000200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964107"/>
            <a:ext cx="4388850" cy="55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324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Progress Final Project</a:t>
            </a:r>
            <a:endParaRPr lang="en-US" sz="324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8718259"/>
            <a:ext cx="668061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Wahyu Ikbal Maulana</a:t>
            </a:r>
            <a:endParaRPr lang="en-US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3323600056</a:t>
            </a:r>
            <a:endParaRPr lang="en-US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78686" y="6757035"/>
            <a:ext cx="6680614" cy="258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Lecturer Advisor</a:t>
            </a:r>
            <a:endParaRPr lang="en-US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r">
              <a:lnSpc>
                <a:spcPts val="3360"/>
              </a:lnSpc>
            </a:pPr>
            <a:r>
              <a:rPr lang="en-US" altLang="en-GB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Dr. Ferry Astika Saputra, S.T., M.Sc..</a:t>
            </a:r>
            <a:endParaRPr lang="en-US" altLang="en-GB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r">
              <a:lnSpc>
                <a:spcPts val="3360"/>
              </a:lnSpc>
            </a:pPr>
            <a:r>
              <a:rPr lang="en-US" altLang="en-GB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197708232001121002</a:t>
            </a:r>
            <a:endParaRPr lang="en-US" altLang="en-GB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r">
              <a:lnSpc>
                <a:spcPts val="3360"/>
              </a:lnSpc>
            </a:pPr>
            <a:endParaRPr>
              <a:latin typeface="+mj-lt"/>
              <a:cs typeface="+mj-lt"/>
            </a:endParaRPr>
          </a:p>
          <a:p>
            <a:pPr algn="r">
              <a:lnSpc>
                <a:spcPts val="3360"/>
              </a:lnSpc>
            </a:pPr>
            <a:r>
              <a:rPr lang="en-US" altLang="en-GB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Dr Tita Karlita S.Kom., M.Kom</a:t>
            </a:r>
            <a:endParaRPr lang="en-US" altLang="en-GB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r">
              <a:lnSpc>
                <a:spcPts val="3360"/>
              </a:lnSpc>
            </a:pPr>
            <a:r>
              <a:rPr lang="en-US" altLang="en-GB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197910142002122002</a:t>
            </a:r>
            <a:endParaRPr lang="en-US" altLang="en-GB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457200" y="825845"/>
            <a:ext cx="17373600" cy="44831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4200" b="1">
                <a:solidFill>
                  <a:srgbClr val="000000"/>
                </a:solidFill>
                <a:latin typeface="+mj-lt"/>
                <a:cs typeface="+mj-lt"/>
              </a:rPr>
              <a:t>Research Background - 5 Why</a:t>
            </a:r>
            <a:endParaRPr lang="en-US" sz="4200" b="1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18" name="Box1"/>
          <p:cNvSpPr/>
          <p:nvPr>
            <p:custDataLst>
              <p:tags r:id="rId1"/>
            </p:custDataLst>
          </p:nvPr>
        </p:nvSpPr>
        <p:spPr>
          <a:xfrm>
            <a:off x="4572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1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New Dataset: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CIC IIoT 2025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19" name="Arrow1"/>
          <p:cNvSpPr/>
          <p:nvPr>
            <p:custDataLst>
              <p:tags r:id="rId2"/>
            </p:custDataLst>
          </p:nvPr>
        </p:nvSpPr>
        <p:spPr>
          <a:xfrm>
            <a:off x="3537200" y="2950000"/>
            <a:ext cx="4334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3870"/>
          </a:solidFill>
          <a:ln>
            <a:noFill/>
          </a:ln>
        </p:spPr>
        <p:txBody>
          <a:bodyPr/>
          <a:lstStyle/>
          <a:p>
            <a:endParaRPr>
              <a:latin typeface="+mj-lt"/>
              <a:cs typeface="+mj-lt"/>
            </a:endParaRPr>
          </a:p>
        </p:txBody>
      </p:sp>
      <p:sp>
        <p:nvSpPr>
          <p:cNvPr id="20" name="Desc1"/>
          <p:cNvSpPr txBox="1"/>
          <p:nvPr>
            <p:custDataLst>
              <p:tags r:id="rId3"/>
            </p:custDataLst>
          </p:nvPr>
        </p:nvSpPr>
        <p:spPr>
          <a:xfrm>
            <a:off x="4572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CIC IIoT 2025 offers a realistic IIoT environment, synchronized sensor time-series and network traffic, covering 50 attack types in 7 categories.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  <p:sp>
        <p:nvSpPr>
          <p:cNvPr id="21" name="Box2"/>
          <p:cNvSpPr/>
          <p:nvPr>
            <p:custDataLst>
              <p:tags r:id="rId4"/>
            </p:custDataLst>
          </p:nvPr>
        </p:nvSpPr>
        <p:spPr>
          <a:xfrm>
            <a:off x="40506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2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Expanding IoT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Threat Landscape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22" name="Arrow2"/>
          <p:cNvSpPr/>
          <p:nvPr>
            <p:custDataLst>
              <p:tags r:id="rId5"/>
            </p:custDataLst>
          </p:nvPr>
        </p:nvSpPr>
        <p:spPr>
          <a:xfrm>
            <a:off x="7130600" y="2950000"/>
            <a:ext cx="4334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3870"/>
          </a:solidFill>
          <a:ln>
            <a:noFill/>
          </a:ln>
        </p:spPr>
        <p:txBody>
          <a:bodyPr/>
          <a:lstStyle/>
          <a:p>
            <a:endParaRPr>
              <a:latin typeface="+mj-lt"/>
              <a:cs typeface="+mj-lt"/>
            </a:endParaRPr>
          </a:p>
        </p:txBody>
      </p:sp>
      <p:sp>
        <p:nvSpPr>
          <p:cNvPr id="23" name="Desc2"/>
          <p:cNvSpPr txBox="1"/>
          <p:nvPr>
            <p:custDataLst>
              <p:tags r:id="rId6"/>
            </p:custDataLst>
          </p:nvPr>
        </p:nvSpPr>
        <p:spPr>
          <a:xfrm>
            <a:off x="40506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ORDR reports ~820,000 IoT attacks per day (+46% YoY). The growing IoT ecosystem demands more up-to-date representative data.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  <p:sp>
        <p:nvSpPr>
          <p:cNvPr id="24" name="Box3"/>
          <p:cNvSpPr/>
          <p:nvPr>
            <p:custDataLst>
              <p:tags r:id="rId7"/>
            </p:custDataLst>
          </p:nvPr>
        </p:nvSpPr>
        <p:spPr>
          <a:xfrm>
            <a:off x="76440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3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CIC IoT 2023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Is Outdated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25" name="Arrow3"/>
          <p:cNvSpPr/>
          <p:nvPr>
            <p:custDataLst>
              <p:tags r:id="rId8"/>
            </p:custDataLst>
          </p:nvPr>
        </p:nvSpPr>
        <p:spPr>
          <a:xfrm>
            <a:off x="10724000" y="2950000"/>
            <a:ext cx="4334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3870"/>
          </a:solidFill>
          <a:ln>
            <a:noFill/>
          </a:ln>
        </p:spPr>
        <p:txBody>
          <a:bodyPr/>
          <a:lstStyle/>
          <a:p>
            <a:endParaRPr>
              <a:latin typeface="+mj-lt"/>
              <a:cs typeface="+mj-lt"/>
            </a:endParaRPr>
          </a:p>
        </p:txBody>
      </p:sp>
      <p:sp>
        <p:nvSpPr>
          <p:cNvPr id="26" name="Desc3"/>
          <p:cNvSpPr txBox="1"/>
          <p:nvPr>
            <p:custDataLst>
              <p:tags r:id="rId9"/>
            </p:custDataLst>
          </p:nvPr>
        </p:nvSpPr>
        <p:spPr>
          <a:xfrm>
            <a:off x="76440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Studies show severe class imbalance in CICIoT2023 (attack traffic ~97.7%), making high accuracy scores misleading for real-world performance.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  <p:sp>
        <p:nvSpPr>
          <p:cNvPr id="27" name="Box4"/>
          <p:cNvSpPr/>
          <p:nvPr>
            <p:custDataLst>
              <p:tags r:id="rId10"/>
            </p:custDataLst>
          </p:nvPr>
        </p:nvSpPr>
        <p:spPr>
          <a:xfrm>
            <a:off x="112374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4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Dataset for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ML Prediction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28" name="Arrow4"/>
          <p:cNvSpPr/>
          <p:nvPr>
            <p:custDataLst>
              <p:tags r:id="rId11"/>
            </p:custDataLst>
          </p:nvPr>
        </p:nvSpPr>
        <p:spPr>
          <a:xfrm>
            <a:off x="14317400" y="2950000"/>
            <a:ext cx="4334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3870"/>
          </a:solidFill>
          <a:ln>
            <a:noFill/>
          </a:ln>
        </p:spPr>
        <p:txBody>
          <a:bodyPr/>
          <a:lstStyle/>
          <a:p>
            <a:endParaRPr>
              <a:latin typeface="+mj-lt"/>
              <a:cs typeface="+mj-lt"/>
            </a:endParaRPr>
          </a:p>
        </p:txBody>
      </p:sp>
      <p:sp>
        <p:nvSpPr>
          <p:cNvPr id="29" name="Desc4"/>
          <p:cNvSpPr txBox="1"/>
          <p:nvPr>
            <p:custDataLst>
              <p:tags r:id="rId12"/>
            </p:custDataLst>
          </p:nvPr>
        </p:nvSpPr>
        <p:spPr>
          <a:xfrm>
            <a:off x="112374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CIC IIoT 2025 is designed as a real-world IIoT anomaly detection benchmark. Challenge: imbalanced, multi-class data with lower performance.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  <p:sp>
        <p:nvSpPr>
          <p:cNvPr id="30" name="Box5"/>
          <p:cNvSpPr/>
          <p:nvPr>
            <p:custDataLst>
              <p:tags r:id="rId13"/>
            </p:custDataLst>
          </p:nvPr>
        </p:nvSpPr>
        <p:spPr>
          <a:xfrm>
            <a:off x="148308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5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Cross-Dataset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Evaluation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31" name="Desc5"/>
          <p:cNvSpPr txBox="1"/>
          <p:nvPr>
            <p:custDataLst>
              <p:tags r:id="rId14"/>
            </p:custDataLst>
          </p:nvPr>
        </p:nvSpPr>
        <p:spPr>
          <a:xfrm>
            <a:off x="148308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Models can overfit to a single dataset. Cross-dataset evaluation tests whether a model learns general attack patterns vs. memorizing training data.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00000"/>
            <a:ext cx="17373600" cy="8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500"/>
              </a:lnSpc>
            </a:pPr>
            <a:r>
              <a:rPr lang="id-ID" sz="4000" b="1">
                <a:solidFill>
                  <a:srgbClr val="000000"/>
                </a:solidFill>
                <a:latin typeface="+mj-lt"/>
                <a:cs typeface="+mj-lt"/>
              </a:rPr>
              <a:t>Perbandingan Dataset</a:t>
            </a:r>
            <a:endParaRPr lang="id-ID" sz="4000" b="1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5" name="Picture 4" descr="ig_0c6bbf89b60fa10c016a39fec510f08191b3b7f0f2c1d8fe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1562100"/>
            <a:ext cx="14539595" cy="7893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57200" y="398505"/>
            <a:ext cx="17373600" cy="106299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4790"/>
              </a:lnSpc>
            </a:pPr>
            <a:r>
              <a:rPr lang="en-US" sz="4200" b="1">
                <a:solidFill>
                  <a:srgbClr val="000000"/>
                </a:solidFill>
                <a:cs typeface="+mn-lt"/>
              </a:rPr>
              <a:t>CIC IIoT Dataset 2025 (DataSense)</a:t>
            </a:r>
            <a:endParaRPr lang="en-US" sz="4200" b="1">
              <a:solidFill>
                <a:srgbClr val="000000"/>
              </a:solidFill>
              <a:cs typeface="+mn-lt"/>
            </a:endParaRPr>
          </a:p>
          <a:p>
            <a:pPr algn="l">
              <a:lnSpc>
                <a:spcPts val="3500"/>
              </a:lnSpc>
            </a:pPr>
            <a:r>
              <a:rPr lang="en-US" sz="1800">
                <a:solidFill>
                  <a:srgbClr val="303870"/>
                </a:solidFill>
                <a:cs typeface="+mn-lt"/>
              </a:rPr>
              <a:t>Canadian Institute for Cybersecurity (CIC), UNB — unb.ca/cic/datasets/iiot-dataset-2025.html</a:t>
            </a:r>
            <a:endParaRPr lang="en-US" sz="1800">
              <a:solidFill>
                <a:srgbClr val="303870"/>
              </a:solidFill>
              <a:cs typeface="+mn-lt"/>
            </a:endParaRPr>
          </a:p>
        </p:txBody>
      </p:sp>
      <p:sp>
        <p:nvSpPr>
          <p:cNvPr id="5" name="Stat0"/>
          <p:cNvSpPr/>
          <p:nvPr/>
        </p:nvSpPr>
        <p:spPr>
          <a:xfrm>
            <a:off x="457200" y="1828600"/>
            <a:ext cx="1837500" cy="1800000"/>
          </a:xfrm>
          <a:prstGeom prst="roundRect">
            <a:avLst>
              <a:gd name="adj" fmla="val 10000"/>
            </a:avLst>
          </a:prstGeom>
          <a:solidFill>
            <a:srgbClr val="303870"/>
          </a:solidFill>
          <a:ln>
            <a:noFill/>
          </a:ln>
        </p:spPr>
        <p:txBody>
          <a:bodyPr lIns="100000" tIns="100000" rIns="100000" bIns="100000" rtlCol="0" anchor="ctr"/>
          <a:lstStyle/>
          <a:p>
            <a:pPr algn="ctr">
              <a:lnSpc>
                <a:spcPts val="3500"/>
              </a:lnSpc>
            </a:pP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500"/>
              </a:lnSpc>
            </a:pPr>
            <a:r>
              <a:rPr lang="en-US" sz="5500" b="1">
                <a:solidFill>
                  <a:srgbClr val="FFFFFF"/>
                </a:solidFill>
                <a:cs typeface="+mn-lt"/>
              </a:rPr>
              <a:t>40</a:t>
            </a: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CADCFC"/>
                </a:solidFill>
                <a:cs typeface="+mn-lt"/>
              </a:rPr>
              <a:t>Devices</a:t>
            </a:r>
            <a:endParaRPr lang="en-US" sz="1600">
              <a:solidFill>
                <a:srgbClr val="CADCFC"/>
              </a:solidFill>
              <a:cs typeface="+mn-lt"/>
            </a:endParaRPr>
          </a:p>
        </p:txBody>
      </p:sp>
      <p:sp>
        <p:nvSpPr>
          <p:cNvPr id="6" name="Stat1"/>
          <p:cNvSpPr/>
          <p:nvPr/>
        </p:nvSpPr>
        <p:spPr>
          <a:xfrm>
            <a:off x="2444700" y="1828600"/>
            <a:ext cx="1837500" cy="1800000"/>
          </a:xfrm>
          <a:prstGeom prst="roundRect">
            <a:avLst>
              <a:gd name="adj" fmla="val 10000"/>
            </a:avLst>
          </a:prstGeom>
          <a:solidFill>
            <a:srgbClr val="303870"/>
          </a:solidFill>
          <a:ln>
            <a:noFill/>
          </a:ln>
        </p:spPr>
        <p:txBody>
          <a:bodyPr lIns="100000" tIns="100000" rIns="100000" bIns="100000" rtlCol="0" anchor="ctr"/>
          <a:lstStyle/>
          <a:p>
            <a:pPr algn="ctr">
              <a:lnSpc>
                <a:spcPts val="3500"/>
              </a:lnSpc>
            </a:pP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500"/>
              </a:lnSpc>
            </a:pPr>
            <a:r>
              <a:rPr lang="en-US" sz="5500" b="1">
                <a:solidFill>
                  <a:srgbClr val="FFFFFF"/>
                </a:solidFill>
                <a:cs typeface="+mn-lt"/>
              </a:rPr>
              <a:t>50</a:t>
            </a: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CADCFC"/>
                </a:solidFill>
                <a:cs typeface="+mn-lt"/>
              </a:rPr>
              <a:t>Attack Types</a:t>
            </a:r>
            <a:endParaRPr lang="en-US" sz="1600">
              <a:solidFill>
                <a:srgbClr val="CADCFC"/>
              </a:solidFill>
              <a:cs typeface="+mn-lt"/>
            </a:endParaRPr>
          </a:p>
        </p:txBody>
      </p:sp>
      <p:sp>
        <p:nvSpPr>
          <p:cNvPr id="7" name="Stat2"/>
          <p:cNvSpPr/>
          <p:nvPr/>
        </p:nvSpPr>
        <p:spPr>
          <a:xfrm>
            <a:off x="4432200" y="1828600"/>
            <a:ext cx="1837500" cy="1800000"/>
          </a:xfrm>
          <a:prstGeom prst="roundRect">
            <a:avLst>
              <a:gd name="adj" fmla="val 10000"/>
            </a:avLst>
          </a:prstGeom>
          <a:solidFill>
            <a:srgbClr val="303870"/>
          </a:solidFill>
          <a:ln>
            <a:noFill/>
          </a:ln>
        </p:spPr>
        <p:txBody>
          <a:bodyPr lIns="100000" tIns="100000" rIns="100000" bIns="100000" rtlCol="0" anchor="ctr"/>
          <a:lstStyle/>
          <a:p>
            <a:pPr algn="ctr">
              <a:lnSpc>
                <a:spcPts val="3500"/>
              </a:lnSpc>
            </a:pP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500"/>
              </a:lnSpc>
            </a:pPr>
            <a:r>
              <a:rPr lang="en-US" sz="5500" b="1">
                <a:solidFill>
                  <a:srgbClr val="FFFFFF"/>
                </a:solidFill>
                <a:cs typeface="+mn-lt"/>
              </a:rPr>
              <a:t>7</a:t>
            </a: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CADCFC"/>
                </a:solidFill>
                <a:cs typeface="+mn-lt"/>
              </a:rPr>
              <a:t>Categories</a:t>
            </a:r>
            <a:endParaRPr lang="en-US" sz="1600">
              <a:solidFill>
                <a:srgbClr val="CADCFC"/>
              </a:solidFill>
              <a:cs typeface="+mn-lt"/>
            </a:endParaRPr>
          </a:p>
        </p:txBody>
      </p:sp>
      <p:sp>
        <p:nvSpPr>
          <p:cNvPr id="8" name="Stat3"/>
          <p:cNvSpPr/>
          <p:nvPr/>
        </p:nvSpPr>
        <p:spPr>
          <a:xfrm>
            <a:off x="6419700" y="1828600"/>
            <a:ext cx="1837500" cy="1800000"/>
          </a:xfrm>
          <a:prstGeom prst="roundRect">
            <a:avLst>
              <a:gd name="adj" fmla="val 10000"/>
            </a:avLst>
          </a:prstGeom>
          <a:solidFill>
            <a:srgbClr val="303870"/>
          </a:solidFill>
          <a:ln>
            <a:noFill/>
          </a:ln>
        </p:spPr>
        <p:txBody>
          <a:bodyPr lIns="100000" tIns="100000" rIns="100000" bIns="100000" rtlCol="0" anchor="ctr"/>
          <a:lstStyle/>
          <a:p>
            <a:pPr algn="ctr">
              <a:lnSpc>
                <a:spcPts val="3500"/>
              </a:lnSpc>
            </a:pP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500"/>
              </a:lnSpc>
            </a:pPr>
            <a:r>
              <a:rPr lang="en-US" sz="5500" b="1">
                <a:solidFill>
                  <a:srgbClr val="FFFFFF"/>
                </a:solidFill>
                <a:cs typeface="+mn-lt"/>
              </a:rPr>
              <a:t>5</a:t>
            </a: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CADCFC"/>
                </a:solidFill>
                <a:cs typeface="+mn-lt"/>
              </a:rPr>
              <a:t>Testbed Layers</a:t>
            </a:r>
            <a:endParaRPr lang="en-US" sz="1600">
              <a:solidFill>
                <a:srgbClr val="CADCFC"/>
              </a:solidFill>
              <a:cs typeface="+mn-lt"/>
            </a:endParaRPr>
          </a:p>
        </p:txBody>
      </p:sp>
      <p:sp>
        <p:nvSpPr>
          <p:cNvPr id="9" name="Desc0"/>
          <p:cNvSpPr txBox="1"/>
          <p:nvPr/>
        </p:nvSpPr>
        <p:spPr>
          <a:xfrm>
            <a:off x="457200" y="4031000"/>
            <a:ext cx="7800000" cy="1504250"/>
          </a:xfrm>
          <a:prstGeom prst="rect">
            <a:avLst/>
          </a:prstGeom>
        </p:spPr>
        <p:txBody>
          <a:bodyPr wrap="square" lIns="0" tIns="50000" rIns="100000" bIns="0" rtlCol="0" anchor="t">
            <a:norm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303870"/>
                </a:solidFill>
                <a:cs typeface="+mn-lt"/>
              </a:rPr>
              <a:t>Realistic IIoT testbed — </a:t>
            </a:r>
            <a:r>
              <a:rPr lang="en-US" sz="2000">
                <a:solidFill>
                  <a:srgbClr val="000000"/>
                </a:solidFill>
                <a:cs typeface="+mn-lt"/>
              </a:rPr>
              <a:t>Not simulated — 40 real interconnected devices across 5 layers (IoT/IIoT, Network, Edge, Cloud, Attacker).</a:t>
            </a:r>
            <a:endParaRPr lang="en-US" sz="2000">
              <a:solidFill>
                <a:srgbClr val="000000"/>
              </a:solidFill>
              <a:cs typeface="+mn-lt"/>
            </a:endParaRPr>
          </a:p>
        </p:txBody>
      </p:sp>
      <p:sp>
        <p:nvSpPr>
          <p:cNvPr id="10" name="Desc1"/>
          <p:cNvSpPr txBox="1"/>
          <p:nvPr/>
        </p:nvSpPr>
        <p:spPr>
          <a:xfrm>
            <a:off x="457200" y="5234250"/>
            <a:ext cx="7800000" cy="1504250"/>
          </a:xfrm>
          <a:prstGeom prst="rect">
            <a:avLst/>
          </a:prstGeom>
        </p:spPr>
        <p:txBody>
          <a:bodyPr wrap="square" lIns="0" tIns="50000" rIns="100000" bIns="0" rtlCol="0" anchor="t">
            <a:norm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303870"/>
                </a:solidFill>
                <a:cs typeface="+mn-lt"/>
              </a:rPr>
              <a:t>Dual-stream data — </a:t>
            </a:r>
            <a:r>
              <a:rPr lang="en-US" sz="2000">
                <a:solidFill>
                  <a:srgbClr val="000000"/>
                </a:solidFill>
                <a:cs typeface="+mn-lt"/>
              </a:rPr>
              <a:t>Synchronized time-series sensor data (Arduino + industrial sensors) and network traffic captured simultaneously.</a:t>
            </a:r>
            <a:endParaRPr lang="en-US" sz="2000">
              <a:solidFill>
                <a:srgbClr val="000000"/>
              </a:solidFill>
              <a:cs typeface="+mn-lt"/>
            </a:endParaRPr>
          </a:p>
        </p:txBody>
      </p:sp>
      <p:sp>
        <p:nvSpPr>
          <p:cNvPr id="11" name="Desc2"/>
          <p:cNvSpPr txBox="1"/>
          <p:nvPr/>
        </p:nvSpPr>
        <p:spPr>
          <a:xfrm>
            <a:off x="457200" y="6437500"/>
            <a:ext cx="7800000" cy="1504250"/>
          </a:xfrm>
          <a:prstGeom prst="rect">
            <a:avLst/>
          </a:prstGeom>
        </p:spPr>
        <p:txBody>
          <a:bodyPr wrap="square" lIns="0" tIns="50000" rIns="100000" bIns="0" rtlCol="0" anchor="t">
            <a:norm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303870"/>
                </a:solidFill>
                <a:cs typeface="+mn-lt"/>
              </a:rPr>
              <a:t>Novel feature selection — </a:t>
            </a:r>
            <a:r>
              <a:rPr lang="en-US" sz="2000">
                <a:solidFill>
                  <a:srgbClr val="000000"/>
                </a:solidFill>
                <a:cs typeface="+mn-lt"/>
              </a:rPr>
              <a:t>Multi-objective method balancing detection accuracy and resource efficiency — closer to practical IIoT deployment.</a:t>
            </a:r>
            <a:endParaRPr lang="en-US" sz="2000">
              <a:solidFill>
                <a:srgbClr val="000000"/>
              </a:solidFill>
              <a:cs typeface="+mn-lt"/>
            </a:endParaRPr>
          </a:p>
        </p:txBody>
      </p:sp>
      <p:sp>
        <p:nvSpPr>
          <p:cNvPr id="12" name="Desc3"/>
          <p:cNvSpPr txBox="1"/>
          <p:nvPr/>
        </p:nvSpPr>
        <p:spPr>
          <a:xfrm>
            <a:off x="457200" y="7640750"/>
            <a:ext cx="7800000" cy="1504250"/>
          </a:xfrm>
          <a:prstGeom prst="rect">
            <a:avLst/>
          </a:prstGeom>
        </p:spPr>
        <p:txBody>
          <a:bodyPr wrap="square" lIns="0" tIns="50000" rIns="100000" bIns="0" rtlCol="0" anchor="t">
            <a:norm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303870"/>
                </a:solidFill>
                <a:cs typeface="+mn-lt"/>
              </a:rPr>
              <a:t>ML/DL benchmark — </a:t>
            </a:r>
            <a:r>
              <a:rPr lang="en-US" sz="2000">
                <a:solidFill>
                  <a:srgbClr val="000000"/>
                </a:solidFill>
                <a:cs typeface="+mn-lt"/>
              </a:rPr>
              <a:t>Supports real-time attack detection and classification experiments. Benign baseline: 12 hours, 259K packets.</a:t>
            </a:r>
            <a:endParaRPr lang="en-US" sz="2000">
              <a:solidFill>
                <a:srgbClr val="000000"/>
              </a:solidFill>
              <a:cs typeface="+mn-lt"/>
            </a:endParaRPr>
          </a:p>
        </p:txBody>
      </p:sp>
      <p:sp>
        <p:nvSpPr>
          <p:cNvPr id="13" name="RightHdr"/>
          <p:cNvSpPr txBox="1"/>
          <p:nvPr/>
        </p:nvSpPr>
        <p:spPr>
          <a:xfrm>
            <a:off x="9114400" y="1600000"/>
            <a:ext cx="91736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3500"/>
              </a:lnSpc>
            </a:pPr>
            <a:r>
              <a:rPr lang="en-US" sz="2400" b="1">
                <a:solidFill>
                  <a:srgbClr val="000000"/>
                </a:solidFill>
                <a:cs typeface="+mn-lt"/>
              </a:rPr>
              <a:t>Attack Categories (50 total)</a:t>
            </a:r>
            <a:endParaRPr lang="en-US" sz="24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14" name="AtkHdrCategory"/>
          <p:cNvSpPr/>
          <p:nvPr/>
        </p:nvSpPr>
        <p:spPr>
          <a:xfrm>
            <a:off x="9114400" y="2300000"/>
            <a:ext cx="2752080" cy="550000"/>
          </a:xfrm>
          <a:prstGeom prst="rect">
            <a:avLst/>
          </a:prstGeom>
          <a:solidFill>
            <a:srgbClr val="303870"/>
          </a:solidFill>
          <a:ln>
            <a:noFill/>
          </a:ln>
        </p:spPr>
        <p:txBody>
          <a:bodyPr lIns="100000" tIns="80000" rIns="100000" bIns="8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FFFFFF"/>
                </a:solidFill>
                <a:cs typeface="+mn-lt"/>
              </a:rPr>
              <a:t>Category</a:t>
            </a:r>
            <a:endParaRPr lang="en-US" sz="17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5" name="AtkHdrSub-types"/>
          <p:cNvSpPr/>
          <p:nvPr/>
        </p:nvSpPr>
        <p:spPr>
          <a:xfrm>
            <a:off x="11866480" y="2300000"/>
            <a:ext cx="2752080" cy="550000"/>
          </a:xfrm>
          <a:prstGeom prst="rect">
            <a:avLst/>
          </a:prstGeom>
          <a:solidFill>
            <a:srgbClr val="303870"/>
          </a:solidFill>
          <a:ln>
            <a:noFill/>
          </a:ln>
        </p:spPr>
        <p:txBody>
          <a:bodyPr lIns="100000" tIns="80000" rIns="100000" bIns="8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FFFFFF"/>
                </a:solidFill>
                <a:cs typeface="+mn-lt"/>
              </a:rPr>
              <a:t>Sub-types</a:t>
            </a:r>
            <a:endParaRPr lang="en-US" sz="17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6" name="AtkHdrScale"/>
          <p:cNvSpPr/>
          <p:nvPr/>
        </p:nvSpPr>
        <p:spPr>
          <a:xfrm>
            <a:off x="14618335" y="2299970"/>
            <a:ext cx="2298700" cy="549910"/>
          </a:xfrm>
          <a:prstGeom prst="rect">
            <a:avLst/>
          </a:prstGeom>
          <a:solidFill>
            <a:srgbClr val="303870"/>
          </a:solidFill>
          <a:ln>
            <a:noFill/>
          </a:ln>
        </p:spPr>
        <p:txBody>
          <a:bodyPr lIns="100000" tIns="80000" rIns="100000" bIns="8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FFFFFF"/>
                </a:solidFill>
                <a:cs typeface="+mn-lt"/>
              </a:rPr>
              <a:t>Scale</a:t>
            </a:r>
            <a:endParaRPr lang="en-US" sz="17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7" name="Atk0DDo"/>
          <p:cNvSpPr/>
          <p:nvPr/>
        </p:nvSpPr>
        <p:spPr>
          <a:xfrm>
            <a:off x="9114400" y="2850000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DDoS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18" name="Atk014 "/>
          <p:cNvSpPr/>
          <p:nvPr/>
        </p:nvSpPr>
        <p:spPr>
          <a:xfrm>
            <a:off x="11866480" y="2850000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14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19" name="Atk01.1"/>
          <p:cNvSpPr/>
          <p:nvPr/>
        </p:nvSpPr>
        <p:spPr>
          <a:xfrm>
            <a:off x="14618335" y="2849880"/>
            <a:ext cx="2298700" cy="1019810"/>
          </a:xfrm>
          <a:prstGeom prst="rect">
            <a:avLst/>
          </a:prstGeom>
          <a:solidFill>
            <a:srgbClr val="ECEAF5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1.14B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20" name="Atk1DoS"/>
          <p:cNvSpPr/>
          <p:nvPr/>
        </p:nvSpPr>
        <p:spPr>
          <a:xfrm>
            <a:off x="9114400" y="3869571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DoS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1" name="Atk114 "/>
          <p:cNvSpPr/>
          <p:nvPr/>
        </p:nvSpPr>
        <p:spPr>
          <a:xfrm>
            <a:off x="11866480" y="3869571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14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2" name="Atk1537"/>
          <p:cNvSpPr/>
          <p:nvPr/>
        </p:nvSpPr>
        <p:spPr>
          <a:xfrm>
            <a:off x="14618335" y="3869690"/>
            <a:ext cx="2298700" cy="1019810"/>
          </a:xfrm>
          <a:prstGeom prst="rect">
            <a:avLst/>
          </a:prstGeom>
          <a:solidFill>
            <a:srgbClr val="F4EDE2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537.5M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23" name="Atk2MIT"/>
          <p:cNvSpPr/>
          <p:nvPr/>
        </p:nvSpPr>
        <p:spPr>
          <a:xfrm>
            <a:off x="9114400" y="4889142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MITM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4" name="Atk23 t"/>
          <p:cNvSpPr/>
          <p:nvPr/>
        </p:nvSpPr>
        <p:spPr>
          <a:xfrm>
            <a:off x="11866480" y="4889142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3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5" name="Atk2125"/>
          <p:cNvSpPr/>
          <p:nvPr/>
        </p:nvSpPr>
        <p:spPr>
          <a:xfrm>
            <a:off x="14618335" y="4888865"/>
            <a:ext cx="2298700" cy="1019810"/>
          </a:xfrm>
          <a:prstGeom prst="rect">
            <a:avLst/>
          </a:prstGeom>
          <a:solidFill>
            <a:srgbClr val="ECEAF5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125.7M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26" name="Atk3Rec"/>
          <p:cNvSpPr/>
          <p:nvPr/>
        </p:nvSpPr>
        <p:spPr>
          <a:xfrm>
            <a:off x="9114400" y="5908713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Recon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7" name="Atk39 t"/>
          <p:cNvSpPr/>
          <p:nvPr/>
        </p:nvSpPr>
        <p:spPr>
          <a:xfrm>
            <a:off x="11866480" y="5908713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9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8" name="Atk315."/>
          <p:cNvSpPr/>
          <p:nvPr/>
        </p:nvSpPr>
        <p:spPr>
          <a:xfrm>
            <a:off x="14618335" y="5908675"/>
            <a:ext cx="2298700" cy="1019810"/>
          </a:xfrm>
          <a:prstGeom prst="rect">
            <a:avLst/>
          </a:prstGeom>
          <a:solidFill>
            <a:srgbClr val="F4EDE2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15.8M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29" name="Atk4Mal"/>
          <p:cNvSpPr/>
          <p:nvPr/>
        </p:nvSpPr>
        <p:spPr>
          <a:xfrm>
            <a:off x="9114400" y="6928284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Malware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0" name="Atk42 t"/>
          <p:cNvSpPr/>
          <p:nvPr/>
        </p:nvSpPr>
        <p:spPr>
          <a:xfrm>
            <a:off x="11866480" y="6928284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2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1" name="Atk41.4"/>
          <p:cNvSpPr/>
          <p:nvPr/>
        </p:nvSpPr>
        <p:spPr>
          <a:xfrm>
            <a:off x="14618335" y="6928485"/>
            <a:ext cx="2298700" cy="1019810"/>
          </a:xfrm>
          <a:prstGeom prst="rect">
            <a:avLst/>
          </a:prstGeom>
          <a:solidFill>
            <a:srgbClr val="ECEAF5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1.47M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32" name="Atk5Web"/>
          <p:cNvSpPr/>
          <p:nvPr/>
        </p:nvSpPr>
        <p:spPr>
          <a:xfrm>
            <a:off x="9114400" y="7947855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Web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3" name="Atk55 t"/>
          <p:cNvSpPr/>
          <p:nvPr/>
        </p:nvSpPr>
        <p:spPr>
          <a:xfrm>
            <a:off x="11866480" y="7947855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5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4" name="Atk5590"/>
          <p:cNvSpPr/>
          <p:nvPr/>
        </p:nvSpPr>
        <p:spPr>
          <a:xfrm>
            <a:off x="14618335" y="7947660"/>
            <a:ext cx="2298700" cy="1019810"/>
          </a:xfrm>
          <a:prstGeom prst="rect">
            <a:avLst/>
          </a:prstGeom>
          <a:solidFill>
            <a:srgbClr val="F4EDE2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590K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35" name="Atk6Bru"/>
          <p:cNvSpPr/>
          <p:nvPr/>
        </p:nvSpPr>
        <p:spPr>
          <a:xfrm>
            <a:off x="9114400" y="8967426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Bruteforce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6" name="Atk62 t"/>
          <p:cNvSpPr/>
          <p:nvPr/>
        </p:nvSpPr>
        <p:spPr>
          <a:xfrm>
            <a:off x="11866480" y="8967426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2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7" name="Atk6127"/>
          <p:cNvSpPr/>
          <p:nvPr/>
        </p:nvSpPr>
        <p:spPr>
          <a:xfrm>
            <a:off x="14618335" y="8967470"/>
            <a:ext cx="2298700" cy="1019810"/>
          </a:xfrm>
          <a:prstGeom prst="rect">
            <a:avLst/>
          </a:prstGeom>
          <a:solidFill>
            <a:srgbClr val="ECEAF5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127K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00000"/>
            <a:ext cx="17373600" cy="12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id-ID" sz="4200" b="1">
                <a:solidFill>
                  <a:srgbClr val="000000"/>
                </a:solidFill>
                <a:latin typeface="+mj-lt"/>
                <a:cs typeface="+mj-lt"/>
              </a:rPr>
              <a:t>Proposed Workflow</a:t>
            </a:r>
            <a:r>
              <a:rPr lang="en-US" altLang="id-ID" sz="4200" b="1">
                <a:solidFill>
                  <a:srgbClr val="000000"/>
                </a:solidFill>
                <a:latin typeface="+mj-lt"/>
                <a:cs typeface="+mj-lt"/>
              </a:rPr>
              <a:t> cic iot 2023 - </a:t>
            </a:r>
            <a:r>
              <a:rPr lang="en-US" altLang="en-GB" sz="4200" b="1">
                <a:solidFill>
                  <a:srgbClr val="000000"/>
                </a:solidFill>
                <a:latin typeface="+mj-lt"/>
                <a:cs typeface="+mj-lt"/>
              </a:rPr>
              <a:t>related research</a:t>
            </a:r>
            <a:endParaRPr lang="en-US" altLang="en-GB" sz="4200" b="1">
              <a:solidFill>
                <a:srgbClr val="000000"/>
              </a:solidFill>
              <a:latin typeface="+mj-lt"/>
              <a:cs typeface="+mj-lt"/>
            </a:endParaRPr>
          </a:p>
          <a:p>
            <a:pPr algn="l">
              <a:lnSpc>
                <a:spcPts val="3500"/>
              </a:lnSpc>
            </a:pPr>
            <a:r>
              <a:rPr lang="id-ID" sz="2400">
                <a:solidFill>
                  <a:srgbClr val="303870"/>
                </a:solidFill>
                <a:latin typeface="+mj-lt"/>
                <a:cs typeface="+mj-lt"/>
              </a:rPr>
              <a:t>Workflow awal yang digunakan sebagai baseline</a:t>
            </a:r>
            <a:endParaRPr lang="id-ID" sz="2400">
              <a:solidFill>
                <a:srgbClr val="303870"/>
              </a:solidFill>
              <a:latin typeface="+mj-lt"/>
              <a:cs typeface="+mj-lt"/>
            </a:endParaRPr>
          </a:p>
        </p:txBody>
      </p:sp>
      <p:pic>
        <p:nvPicPr>
          <p:cNvPr id="4" name="Picture 3" descr="202605210140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24125"/>
            <a:ext cx="3529330" cy="6186170"/>
          </a:xfrm>
          <a:prstGeom prst="rect">
            <a:avLst/>
          </a:prstGeom>
        </p:spPr>
      </p:pic>
      <p:pic>
        <p:nvPicPr>
          <p:cNvPr id="5" name="Picture 4" descr="202605210140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705735"/>
            <a:ext cx="4914900" cy="2095500"/>
          </a:xfrm>
          <a:prstGeom prst="rect">
            <a:avLst/>
          </a:prstGeom>
        </p:spPr>
      </p:pic>
      <p:pic>
        <p:nvPicPr>
          <p:cNvPr id="6" name="Picture 5" descr="202605210144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0" y="2552700"/>
            <a:ext cx="4723130" cy="3839210"/>
          </a:xfrm>
          <a:prstGeom prst="rect">
            <a:avLst/>
          </a:prstGeom>
        </p:spPr>
      </p:pic>
      <p:pic>
        <p:nvPicPr>
          <p:cNvPr id="7" name="Picture 6" descr="Pasted image 202606151038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345" y="2552700"/>
            <a:ext cx="3457575" cy="5460365"/>
          </a:xfrm>
          <a:prstGeom prst="rect">
            <a:avLst/>
          </a:prstGeom>
        </p:spPr>
      </p:pic>
      <p:pic>
        <p:nvPicPr>
          <p:cNvPr id="8" name="Picture 7" descr="202605210138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5067300"/>
            <a:ext cx="5053965" cy="3279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00000"/>
            <a:ext cx="17373600" cy="12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id-ID" sz="4200" b="1">
                <a:solidFill>
                  <a:srgbClr val="000000"/>
                </a:solidFill>
                <a:latin typeface="+mj-lt"/>
                <a:cs typeface="+mj-lt"/>
              </a:rPr>
              <a:t>Diagram system</a:t>
            </a:r>
            <a:endParaRPr lang="en-US" altLang="id-ID" sz="2400">
              <a:solidFill>
                <a:srgbClr val="303870"/>
              </a:solidFill>
              <a:latin typeface="+mj-lt"/>
              <a:cs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-38100"/>
            <a:ext cx="9290050" cy="108889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00000"/>
            <a:ext cx="17373600" cy="12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id-ID" sz="4200" b="1">
                <a:solidFill>
                  <a:srgbClr val="000000"/>
                </a:solidFill>
                <a:latin typeface="+mj-lt"/>
                <a:cs typeface="+mj-lt"/>
              </a:rPr>
              <a:t>In progressing</a:t>
            </a:r>
            <a:endParaRPr lang="en-US" altLang="id-ID" sz="2400">
              <a:solidFill>
                <a:srgbClr val="303870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20000"/>
            <a:ext cx="17373600" cy="7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ts val="4500"/>
              </a:lnSpc>
            </a:pPr>
            <a:r>
              <a:rPr lang="id-ID" sz="4000" b="1">
                <a:solidFill>
                  <a:srgbClr val="000000"/>
                </a:solidFill>
                <a:latin typeface="Inter Bold" panose="02000503000000020004"/>
              </a:rPr>
              <a:t>Timeline</a:t>
            </a:r>
            <a:endParaRPr lang="id-ID" sz="4000" b="1">
              <a:solidFill>
                <a:srgbClr val="000000"/>
              </a:solidFill>
              <a:latin typeface="Inter Bold" panose="02000503000000020004"/>
            </a:endParaRPr>
          </a:p>
        </p:txBody>
      </p:sp>
      <p:pic>
        <p:nvPicPr>
          <p:cNvPr id="4" name="Picture 3" descr="Generated 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638300"/>
            <a:ext cx="13651230" cy="7503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0" y="4543425"/>
            <a:ext cx="3032125" cy="12001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id-ID" sz="4200" b="1">
                <a:solidFill>
                  <a:srgbClr val="000000"/>
                </a:solidFill>
                <a:latin typeface="Inter Bold" panose="02000503000000020004"/>
              </a:rPr>
              <a:t>Thank You</a:t>
            </a:r>
            <a:endParaRPr lang="en-US" altLang="id-ID" sz="2400">
              <a:solidFill>
                <a:srgbClr val="303870"/>
              </a:solidFill>
              <a:latin typeface="Inter" panose="020005030000000200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5942310" y="-54610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00000"/>
            <a:ext cx="17373600" cy="12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en-GB" sz="4200" b="1">
                <a:solidFill>
                  <a:srgbClr val="000000"/>
                </a:solidFill>
                <a:latin typeface="+mj-lt"/>
                <a:cs typeface="+mj-lt"/>
              </a:rPr>
              <a:t>researcher's own previous work</a:t>
            </a:r>
            <a:endParaRPr lang="id-ID" sz="2400">
              <a:solidFill>
                <a:srgbClr val="303870"/>
              </a:solidFill>
              <a:latin typeface="+mj-lt"/>
              <a:cs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781300"/>
            <a:ext cx="7839075" cy="5257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2781300"/>
            <a:ext cx="7696200" cy="3838575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8686800" y="6819900"/>
            <a:ext cx="7616190" cy="12001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en-GB" sz="2400">
                <a:solidFill>
                  <a:srgbClr val="303870"/>
                </a:solidFill>
                <a:cs typeface="+mn-lt"/>
              </a:rPr>
              <a:t>https://github.com/wahyudesu/malware-detection</a:t>
            </a:r>
            <a:endParaRPr lang="en-US" altLang="en-GB" sz="2400">
              <a:solidFill>
                <a:srgbClr val="303870"/>
              </a:solidFill>
              <a:cs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2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3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4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5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6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7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8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9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0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1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2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3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4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2305</Words>
  <Application>WPS Presentation</Application>
  <PresentationFormat>On-screen Show (4:3)</PresentationFormat>
  <Paragraphs>136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Inter Bold</vt:lpstr>
      <vt:lpstr>Inter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Cross-Dataset Evaluation of IoT/IIoT Intrusion Detection Model Generalization on CIC IoT 2023 and CIC IIoT 2025</dc:title>
  <dc:creator/>
  <cp:lastModifiedBy>wahyu ikbal</cp:lastModifiedBy>
  <cp:revision>16</cp:revision>
  <dcterms:created xsi:type="dcterms:W3CDTF">2006-08-16T00:00:00Z</dcterms:created>
  <dcterms:modified xsi:type="dcterms:W3CDTF">2026-06-26T12:07:07Z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443638F28FFE4F9BA7392BEE872BFFC0_12</vt:lpwstr>
  </property>
  <property fmtid="{D5CDD505-2E9C-101B-9397-08002B2CF9AE}" pid="3" name="KSOProductBuildVer">
    <vt:lpwstr>2057-12.2.0.23203</vt:lpwstr>
  </property>
</Properties>
</file>